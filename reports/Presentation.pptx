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72" d="100"/>
          <a:sy n="72" d="100"/>
        </p:scale>
        <p:origin x="63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CCDFDDDB-EF11-4054-BEEC-45534E364E64}" type="datetimeFigureOut">
              <a:rPr lang="en-IN" smtClean="0"/>
              <a:t>08-07-2026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0D8887-6609-4163-A886-6DFBB0B48AD3}" type="slidenum">
              <a:rPr lang="en-IN" smtClean="0"/>
              <a:t>‹#›</a:t>
            </a:fld>
            <a:endParaRPr lang="en-IN"/>
          </a:p>
        </p:txBody>
      </p:sp>
    </p:spTree>
    <p:extLst>
      <p:ext uri="{BB962C8B-B14F-4D97-AF65-F5344CB8AC3E}">
        <p14:creationId xmlns:p14="http://schemas.microsoft.com/office/powerpoint/2010/main" val="26635786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CDFDDDB-EF11-4054-BEEC-45534E364E64}" type="datetimeFigureOut">
              <a:rPr lang="en-IN" smtClean="0"/>
              <a:t>08-07-2026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0D8887-6609-4163-A886-6DFBB0B48AD3}" type="slidenum">
              <a:rPr lang="en-IN" smtClean="0"/>
              <a:t>‹#›</a:t>
            </a:fld>
            <a:endParaRPr lang="en-IN"/>
          </a:p>
        </p:txBody>
      </p:sp>
    </p:spTree>
    <p:extLst>
      <p:ext uri="{BB962C8B-B14F-4D97-AF65-F5344CB8AC3E}">
        <p14:creationId xmlns:p14="http://schemas.microsoft.com/office/powerpoint/2010/main" val="9097170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CDFDDDB-EF11-4054-BEEC-45534E364E64}" type="datetimeFigureOut">
              <a:rPr lang="en-IN" smtClean="0"/>
              <a:t>08-07-2026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0D8887-6609-4163-A886-6DFBB0B48AD3}" type="slidenum">
              <a:rPr lang="en-IN" smtClean="0"/>
              <a:t>‹#›</a:t>
            </a:fld>
            <a:endParaRPr lang="en-IN"/>
          </a:p>
        </p:txBody>
      </p:sp>
    </p:spTree>
    <p:extLst>
      <p:ext uri="{BB962C8B-B14F-4D97-AF65-F5344CB8AC3E}">
        <p14:creationId xmlns:p14="http://schemas.microsoft.com/office/powerpoint/2010/main" val="4085041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CCDFDDDB-EF11-4054-BEEC-45534E364E64}" type="datetimeFigureOut">
              <a:rPr lang="en-IN" smtClean="0"/>
              <a:t>08-07-2026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0D8887-6609-4163-A886-6DFBB0B48AD3}" type="slidenum">
              <a:rPr lang="en-IN" smtClean="0"/>
              <a:t>‹#›</a:t>
            </a:fld>
            <a:endParaRPr lang="en-IN"/>
          </a:p>
        </p:txBody>
      </p:sp>
    </p:spTree>
    <p:extLst>
      <p:ext uri="{BB962C8B-B14F-4D97-AF65-F5344CB8AC3E}">
        <p14:creationId xmlns:p14="http://schemas.microsoft.com/office/powerpoint/2010/main" val="39298103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CCDFDDDB-EF11-4054-BEEC-45534E364E64}" type="datetimeFigureOut">
              <a:rPr lang="en-IN" smtClean="0"/>
              <a:t>08-07-2026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10D8887-6609-4163-A886-6DFBB0B48AD3}" type="slidenum">
              <a:rPr lang="en-IN" smtClean="0"/>
              <a:t>‹#›</a:t>
            </a:fld>
            <a:endParaRPr lang="en-IN"/>
          </a:p>
        </p:txBody>
      </p:sp>
    </p:spTree>
    <p:extLst>
      <p:ext uri="{BB962C8B-B14F-4D97-AF65-F5344CB8AC3E}">
        <p14:creationId xmlns:p14="http://schemas.microsoft.com/office/powerpoint/2010/main" val="2609108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CCDFDDDB-EF11-4054-BEEC-45534E364E64}" type="datetimeFigureOut">
              <a:rPr lang="en-IN" smtClean="0"/>
              <a:t>08-07-2026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10D8887-6609-4163-A886-6DFBB0B48AD3}" type="slidenum">
              <a:rPr lang="en-IN" smtClean="0"/>
              <a:t>‹#›</a:t>
            </a:fld>
            <a:endParaRPr lang="en-IN"/>
          </a:p>
        </p:txBody>
      </p:sp>
    </p:spTree>
    <p:extLst>
      <p:ext uri="{BB962C8B-B14F-4D97-AF65-F5344CB8AC3E}">
        <p14:creationId xmlns:p14="http://schemas.microsoft.com/office/powerpoint/2010/main" val="4077558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DFDDDB-EF11-4054-BEEC-45534E364E64}" type="datetimeFigureOut">
              <a:rPr lang="en-IN" smtClean="0"/>
              <a:t>08-07-2026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10D8887-6609-4163-A886-6DFBB0B48AD3}" type="slidenum">
              <a:rPr lang="en-IN" smtClean="0"/>
              <a:t>‹#›</a:t>
            </a:fld>
            <a:endParaRPr lang="en-IN"/>
          </a:p>
        </p:txBody>
      </p:sp>
    </p:spTree>
    <p:extLst>
      <p:ext uri="{BB962C8B-B14F-4D97-AF65-F5344CB8AC3E}">
        <p14:creationId xmlns:p14="http://schemas.microsoft.com/office/powerpoint/2010/main" val="34972723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CDFDDDB-EF11-4054-BEEC-45534E364E64}" type="datetimeFigureOut">
              <a:rPr lang="en-IN" smtClean="0"/>
              <a:t>08-07-2026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0D8887-6609-4163-A886-6DFBB0B48AD3}" type="slidenum">
              <a:rPr lang="en-IN" smtClean="0"/>
              <a:t>‹#›</a:t>
            </a:fld>
            <a:endParaRPr lang="en-IN"/>
          </a:p>
        </p:txBody>
      </p:sp>
    </p:spTree>
    <p:extLst>
      <p:ext uri="{BB962C8B-B14F-4D97-AF65-F5344CB8AC3E}">
        <p14:creationId xmlns:p14="http://schemas.microsoft.com/office/powerpoint/2010/main" val="4786983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CDFDDDB-EF11-4054-BEEC-45534E364E64}" type="datetimeFigureOut">
              <a:rPr lang="en-IN" smtClean="0"/>
              <a:t>08-07-2026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0D8887-6609-4163-A886-6DFBB0B48AD3}" type="slidenum">
              <a:rPr lang="en-IN" smtClean="0"/>
              <a:t>‹#›</a:t>
            </a:fld>
            <a:endParaRPr lang="en-IN"/>
          </a:p>
        </p:txBody>
      </p:sp>
    </p:spTree>
    <p:extLst>
      <p:ext uri="{BB962C8B-B14F-4D97-AF65-F5344CB8AC3E}">
        <p14:creationId xmlns:p14="http://schemas.microsoft.com/office/powerpoint/2010/main" val="39407466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CDFDDDB-EF11-4054-BEEC-45534E364E64}" type="datetimeFigureOut">
              <a:rPr lang="en-IN" smtClean="0"/>
              <a:t>08-07-2026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0D8887-6609-4163-A886-6DFBB0B48AD3}" type="slidenum">
              <a:rPr lang="en-IN" smtClean="0"/>
              <a:t>‹#›</a:t>
            </a:fld>
            <a:endParaRPr lang="en-IN"/>
          </a:p>
        </p:txBody>
      </p:sp>
    </p:spTree>
    <p:extLst>
      <p:ext uri="{BB962C8B-B14F-4D97-AF65-F5344CB8AC3E}">
        <p14:creationId xmlns:p14="http://schemas.microsoft.com/office/powerpoint/2010/main" val="14203438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CDFDDDB-EF11-4054-BEEC-45534E364E64}" type="datetimeFigureOut">
              <a:rPr lang="en-IN" smtClean="0"/>
              <a:t>08-07-2026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0D8887-6609-4163-A886-6DFBB0B48AD3}" type="slidenum">
              <a:rPr lang="en-IN" smtClean="0"/>
              <a:t>‹#›</a:t>
            </a:fld>
            <a:endParaRPr lang="en-IN"/>
          </a:p>
        </p:txBody>
      </p:sp>
    </p:spTree>
    <p:extLst>
      <p:ext uri="{BB962C8B-B14F-4D97-AF65-F5344CB8AC3E}">
        <p14:creationId xmlns:p14="http://schemas.microsoft.com/office/powerpoint/2010/main" val="8376078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DFDDDB-EF11-4054-BEEC-45534E364E64}" type="datetimeFigureOut">
              <a:rPr lang="en-IN" smtClean="0"/>
              <a:t>08-07-2026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0D8887-6609-4163-A886-6DFBB0B48AD3}" type="slidenum">
              <a:rPr lang="en-IN" smtClean="0"/>
              <a:t>‹#›</a:t>
            </a:fld>
            <a:endParaRPr lang="en-IN"/>
          </a:p>
        </p:txBody>
      </p:sp>
    </p:spTree>
    <p:extLst>
      <p:ext uri="{BB962C8B-B14F-4D97-AF65-F5344CB8AC3E}">
        <p14:creationId xmlns:p14="http://schemas.microsoft.com/office/powerpoint/2010/main" val="6660504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02190" y="534572"/>
            <a:ext cx="8965809" cy="896664"/>
          </a:xfrm>
        </p:spPr>
        <p:txBody>
          <a:bodyPr>
            <a:normAutofit fontScale="90000"/>
          </a:bodyPr>
          <a:lstStyle/>
          <a:p>
            <a:r>
              <a:rPr lang="en-IN" dirty="0" smtClean="0"/>
              <a:t>Mutual Fund Analytics Platform</a:t>
            </a:r>
            <a:endParaRPr lang="en-IN" dirty="0"/>
          </a:p>
        </p:txBody>
      </p:sp>
      <p:sp>
        <p:nvSpPr>
          <p:cNvPr id="3" name="Subtitle 2"/>
          <p:cNvSpPr>
            <a:spLocks noGrp="1"/>
          </p:cNvSpPr>
          <p:nvPr>
            <p:ph type="subTitle" idx="1"/>
          </p:nvPr>
        </p:nvSpPr>
        <p:spPr>
          <a:xfrm>
            <a:off x="1202786" y="1924624"/>
            <a:ext cx="9964616" cy="4747845"/>
          </a:xfrm>
        </p:spPr>
        <p:txBody>
          <a:bodyPr>
            <a:normAutofit lnSpcReduction="10000"/>
          </a:bodyPr>
          <a:lstStyle/>
          <a:p>
            <a:r>
              <a:rPr lang="en-US" dirty="0" smtClean="0"/>
              <a:t>Capstone Project Report</a:t>
            </a:r>
          </a:p>
          <a:p>
            <a:endParaRPr lang="en-US" dirty="0" smtClean="0"/>
          </a:p>
          <a:p>
            <a:r>
              <a:rPr lang="en-US" dirty="0" smtClean="0"/>
              <a:t>Submitted By</a:t>
            </a:r>
          </a:p>
          <a:p>
            <a:endParaRPr lang="en-US" dirty="0" smtClean="0"/>
          </a:p>
          <a:p>
            <a:r>
              <a:rPr lang="en-US" dirty="0" err="1" smtClean="0"/>
              <a:t>Arunmozhi</a:t>
            </a:r>
            <a:r>
              <a:rPr lang="en-US" dirty="0" smtClean="0"/>
              <a:t> M</a:t>
            </a:r>
          </a:p>
          <a:p>
            <a:endParaRPr lang="en-US" dirty="0" smtClean="0"/>
          </a:p>
          <a:p>
            <a:r>
              <a:rPr lang="en-US" dirty="0" smtClean="0"/>
              <a:t>Data Analyst Intern</a:t>
            </a:r>
          </a:p>
          <a:p>
            <a:endParaRPr lang="en-US" dirty="0" smtClean="0"/>
          </a:p>
          <a:p>
            <a:r>
              <a:rPr lang="en-US" dirty="0" err="1" smtClean="0"/>
              <a:t>Bluestock</a:t>
            </a:r>
            <a:r>
              <a:rPr lang="en-US" dirty="0" smtClean="0"/>
              <a:t>™</a:t>
            </a:r>
          </a:p>
          <a:p>
            <a:endParaRPr lang="en-US" dirty="0" smtClean="0"/>
          </a:p>
          <a:p>
            <a:r>
              <a:rPr lang="en-US" dirty="0" smtClean="0"/>
              <a:t>July 2026</a:t>
            </a:r>
            <a:endParaRPr lang="en-IN" dirty="0"/>
          </a:p>
        </p:txBody>
      </p:sp>
    </p:spTree>
    <p:extLst>
      <p:ext uri="{BB962C8B-B14F-4D97-AF65-F5344CB8AC3E}">
        <p14:creationId xmlns:p14="http://schemas.microsoft.com/office/powerpoint/2010/main" val="40683048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91549"/>
            <a:ext cx="11049000" cy="1399140"/>
          </a:xfrm>
        </p:spPr>
        <p:txBody>
          <a:bodyPr/>
          <a:lstStyle/>
          <a:p>
            <a:r>
              <a:rPr lang="en-IN" dirty="0" smtClean="0"/>
              <a:t>Project Overview</a:t>
            </a:r>
            <a:endParaRPr lang="en-IN" dirty="0"/>
          </a:p>
        </p:txBody>
      </p:sp>
      <p:sp>
        <p:nvSpPr>
          <p:cNvPr id="3" name="Content Placeholder 2"/>
          <p:cNvSpPr>
            <a:spLocks noGrp="1"/>
          </p:cNvSpPr>
          <p:nvPr>
            <p:ph idx="1"/>
          </p:nvPr>
        </p:nvSpPr>
        <p:spPr>
          <a:xfrm>
            <a:off x="437322" y="1690688"/>
            <a:ext cx="10916478" cy="4486275"/>
          </a:xfrm>
        </p:spPr>
        <p:txBody>
          <a:bodyPr>
            <a:normAutofit fontScale="92500" lnSpcReduction="10000"/>
          </a:bodyPr>
          <a:lstStyle/>
          <a:p>
            <a:pPr marL="0" indent="0">
              <a:buNone/>
            </a:pPr>
            <a:r>
              <a:rPr lang="en-US" dirty="0" smtClean="0"/>
              <a:t>--The Mutual Fund Analytics Platform is a comprehensive data analytics project developed to analyze Indian mutual fund datasets using Python, SQLite, and Power BI.</a:t>
            </a:r>
          </a:p>
          <a:p>
            <a:pPr marL="0" indent="0">
              <a:buNone/>
            </a:pPr>
            <a:endParaRPr lang="en-US" dirty="0" smtClean="0"/>
          </a:p>
          <a:p>
            <a:pPr marL="0" indent="0">
              <a:buNone/>
            </a:pPr>
            <a:r>
              <a:rPr lang="en-US" dirty="0" smtClean="0"/>
              <a:t>--The project automates the complete ETL process, performs extensive exploratory data analysis, calculates key financial performance metrics, and provides interactive dashboards for investment analysis.</a:t>
            </a:r>
          </a:p>
          <a:p>
            <a:pPr marL="0" indent="0">
              <a:buNone/>
            </a:pPr>
            <a:endParaRPr lang="en-US" dirty="0" smtClean="0"/>
          </a:p>
          <a:p>
            <a:pPr marL="0" indent="0">
              <a:buNone/>
            </a:pPr>
            <a:r>
              <a:rPr lang="en-US" dirty="0" smtClean="0"/>
              <a:t>--The primary objective is to help investors and analysts understand mutual fund performance, evaluate investment risks, and make informed financial decisions through data-driven insights.</a:t>
            </a:r>
            <a:endParaRPr lang="en-IN" dirty="0"/>
          </a:p>
        </p:txBody>
      </p:sp>
    </p:spTree>
    <p:extLst>
      <p:ext uri="{BB962C8B-B14F-4D97-AF65-F5344CB8AC3E}">
        <p14:creationId xmlns:p14="http://schemas.microsoft.com/office/powerpoint/2010/main" val="8284970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4070" y="172279"/>
            <a:ext cx="10929730" cy="901148"/>
          </a:xfrm>
        </p:spPr>
        <p:txBody>
          <a:bodyPr/>
          <a:lstStyle/>
          <a:p>
            <a:r>
              <a:rPr lang="en-IN" dirty="0" smtClean="0"/>
              <a:t>Project Objectives</a:t>
            </a:r>
            <a:endParaRPr lang="en-IN" dirty="0"/>
          </a:p>
        </p:txBody>
      </p:sp>
      <p:sp>
        <p:nvSpPr>
          <p:cNvPr id="3" name="Content Placeholder 2"/>
          <p:cNvSpPr>
            <a:spLocks noGrp="1"/>
          </p:cNvSpPr>
          <p:nvPr>
            <p:ph idx="1"/>
          </p:nvPr>
        </p:nvSpPr>
        <p:spPr>
          <a:xfrm>
            <a:off x="940904" y="1179443"/>
            <a:ext cx="10412896" cy="5565914"/>
          </a:xfrm>
        </p:spPr>
        <p:txBody>
          <a:bodyPr>
            <a:normAutofit fontScale="92500" lnSpcReduction="10000"/>
          </a:bodyPr>
          <a:lstStyle/>
          <a:p>
            <a:pPr marL="0" indent="0">
              <a:buNone/>
            </a:pPr>
            <a:r>
              <a:rPr lang="en-IN" dirty="0" smtClean="0"/>
              <a:t>• Build an automated ETL pipeline for multiple mutual fund datasets.</a:t>
            </a:r>
          </a:p>
          <a:p>
            <a:pPr marL="0" indent="0">
              <a:buNone/>
            </a:pPr>
            <a:endParaRPr lang="en-IN" dirty="0" smtClean="0"/>
          </a:p>
          <a:p>
            <a:pPr marL="0" indent="0">
              <a:buNone/>
            </a:pPr>
            <a:r>
              <a:rPr lang="en-IN" dirty="0" smtClean="0"/>
              <a:t>• Clean, transform, and integrate the datasets into SQLite.</a:t>
            </a:r>
          </a:p>
          <a:p>
            <a:pPr marL="0" indent="0">
              <a:buNone/>
            </a:pPr>
            <a:endParaRPr lang="en-IN" dirty="0" smtClean="0"/>
          </a:p>
          <a:p>
            <a:pPr marL="0" indent="0">
              <a:buNone/>
            </a:pPr>
            <a:r>
              <a:rPr lang="en-IN" dirty="0" smtClean="0"/>
              <a:t>• Perform Exploratory Data Analysis (EDA).</a:t>
            </a:r>
          </a:p>
          <a:p>
            <a:pPr marL="0" indent="0">
              <a:buNone/>
            </a:pPr>
            <a:endParaRPr lang="en-IN" dirty="0" smtClean="0"/>
          </a:p>
          <a:p>
            <a:pPr marL="0" indent="0">
              <a:buNone/>
            </a:pPr>
            <a:r>
              <a:rPr lang="en-IN" dirty="0" smtClean="0"/>
              <a:t>• Calculate financial performance metrics such as CAGR, Sharpe Ratio, </a:t>
            </a:r>
            <a:r>
              <a:rPr lang="en-IN" dirty="0" err="1" smtClean="0"/>
              <a:t>Sortino</a:t>
            </a:r>
            <a:r>
              <a:rPr lang="en-IN" dirty="0" smtClean="0"/>
              <a:t> Ratio, Alpha, Beta, Maximum Drawdown, and Value at Risk (</a:t>
            </a:r>
            <a:r>
              <a:rPr lang="en-IN" dirty="0" err="1" smtClean="0"/>
              <a:t>VaR</a:t>
            </a:r>
            <a:r>
              <a:rPr lang="en-IN" dirty="0" smtClean="0"/>
              <a:t>).</a:t>
            </a:r>
          </a:p>
          <a:p>
            <a:pPr marL="0" indent="0">
              <a:buNone/>
            </a:pPr>
            <a:endParaRPr lang="en-IN" dirty="0" smtClean="0"/>
          </a:p>
          <a:p>
            <a:pPr marL="0" indent="0">
              <a:buNone/>
            </a:pPr>
            <a:r>
              <a:rPr lang="en-IN" dirty="0" smtClean="0"/>
              <a:t>• Develop an interactive Power BI dashboard.</a:t>
            </a:r>
          </a:p>
          <a:p>
            <a:pPr marL="0" indent="0">
              <a:buNone/>
            </a:pPr>
            <a:endParaRPr lang="en-IN" dirty="0" smtClean="0"/>
          </a:p>
          <a:p>
            <a:pPr marL="0" indent="0">
              <a:buNone/>
            </a:pPr>
            <a:r>
              <a:rPr lang="en-IN" dirty="0" smtClean="0"/>
              <a:t>• Perform advanced analytics to support investment decision-making.</a:t>
            </a:r>
            <a:endParaRPr lang="en-IN" dirty="0"/>
          </a:p>
        </p:txBody>
      </p:sp>
    </p:spTree>
    <p:extLst>
      <p:ext uri="{BB962C8B-B14F-4D97-AF65-F5344CB8AC3E}">
        <p14:creationId xmlns:p14="http://schemas.microsoft.com/office/powerpoint/2010/main" val="12251081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4557" y="198783"/>
            <a:ext cx="9382539" cy="212034"/>
          </a:xfrm>
        </p:spPr>
        <p:txBody>
          <a:bodyPr>
            <a:normAutofit fontScale="90000"/>
          </a:bodyPr>
          <a:lstStyle/>
          <a:p>
            <a:r>
              <a:rPr lang="en-IN" dirty="0" smtClean="0"/>
              <a:t>Technology Stack</a:t>
            </a:r>
            <a:endParaRPr lang="en-IN" dirty="0"/>
          </a:p>
        </p:txBody>
      </p:sp>
      <p:sp>
        <p:nvSpPr>
          <p:cNvPr id="3" name="Content Placeholder 2"/>
          <p:cNvSpPr>
            <a:spLocks noGrp="1"/>
          </p:cNvSpPr>
          <p:nvPr>
            <p:ph idx="1"/>
          </p:nvPr>
        </p:nvSpPr>
        <p:spPr>
          <a:xfrm>
            <a:off x="1073426" y="689113"/>
            <a:ext cx="9813235" cy="6016487"/>
          </a:xfrm>
        </p:spPr>
        <p:txBody>
          <a:bodyPr>
            <a:normAutofit fontScale="55000" lnSpcReduction="20000"/>
          </a:bodyPr>
          <a:lstStyle/>
          <a:p>
            <a:r>
              <a:rPr lang="en-IN" dirty="0" smtClean="0"/>
              <a:t>Programming Language</a:t>
            </a:r>
          </a:p>
          <a:p>
            <a:r>
              <a:rPr lang="en-IN" dirty="0" smtClean="0"/>
              <a:t>• Python</a:t>
            </a:r>
          </a:p>
          <a:p>
            <a:endParaRPr lang="en-IN" dirty="0" smtClean="0"/>
          </a:p>
          <a:p>
            <a:r>
              <a:rPr lang="en-IN" dirty="0" smtClean="0"/>
              <a:t>Libraries</a:t>
            </a:r>
          </a:p>
          <a:p>
            <a:r>
              <a:rPr lang="en-IN" dirty="0" smtClean="0"/>
              <a:t>• Pandas</a:t>
            </a:r>
          </a:p>
          <a:p>
            <a:r>
              <a:rPr lang="en-IN" dirty="0" smtClean="0"/>
              <a:t>• </a:t>
            </a:r>
            <a:r>
              <a:rPr lang="en-IN" dirty="0" err="1" smtClean="0"/>
              <a:t>NumPy</a:t>
            </a:r>
            <a:endParaRPr lang="en-IN" dirty="0" smtClean="0"/>
          </a:p>
          <a:p>
            <a:r>
              <a:rPr lang="en-IN" dirty="0" smtClean="0"/>
              <a:t>• </a:t>
            </a:r>
            <a:r>
              <a:rPr lang="en-IN" dirty="0" err="1" smtClean="0"/>
              <a:t>Matplotlib</a:t>
            </a:r>
            <a:endParaRPr lang="en-IN" dirty="0" smtClean="0"/>
          </a:p>
          <a:p>
            <a:r>
              <a:rPr lang="en-IN" dirty="0" smtClean="0"/>
              <a:t>• </a:t>
            </a:r>
            <a:r>
              <a:rPr lang="en-IN" dirty="0" err="1" smtClean="0"/>
              <a:t>Plotly</a:t>
            </a:r>
            <a:endParaRPr lang="en-IN" dirty="0" smtClean="0"/>
          </a:p>
          <a:p>
            <a:r>
              <a:rPr lang="en-IN" dirty="0" smtClean="0"/>
              <a:t>• SQLite3</a:t>
            </a:r>
          </a:p>
          <a:p>
            <a:endParaRPr lang="en-IN" dirty="0" smtClean="0"/>
          </a:p>
          <a:p>
            <a:r>
              <a:rPr lang="en-IN" dirty="0" smtClean="0"/>
              <a:t>Database</a:t>
            </a:r>
          </a:p>
          <a:p>
            <a:r>
              <a:rPr lang="en-IN" dirty="0" smtClean="0"/>
              <a:t>• SQLite</a:t>
            </a:r>
          </a:p>
          <a:p>
            <a:endParaRPr lang="en-IN" dirty="0" smtClean="0"/>
          </a:p>
          <a:p>
            <a:r>
              <a:rPr lang="en-IN" dirty="0" smtClean="0"/>
              <a:t>Visualization</a:t>
            </a:r>
          </a:p>
          <a:p>
            <a:r>
              <a:rPr lang="en-IN" dirty="0" smtClean="0"/>
              <a:t>• Power BI</a:t>
            </a:r>
          </a:p>
          <a:p>
            <a:endParaRPr lang="en-IN" dirty="0" smtClean="0"/>
          </a:p>
          <a:p>
            <a:r>
              <a:rPr lang="en-IN" dirty="0" smtClean="0"/>
              <a:t>Development Tools</a:t>
            </a:r>
          </a:p>
          <a:p>
            <a:r>
              <a:rPr lang="en-IN" dirty="0" smtClean="0"/>
              <a:t>• VS Code</a:t>
            </a:r>
          </a:p>
          <a:p>
            <a:r>
              <a:rPr lang="en-IN" dirty="0" smtClean="0"/>
              <a:t>• </a:t>
            </a:r>
            <a:r>
              <a:rPr lang="en-IN" dirty="0" err="1" smtClean="0"/>
              <a:t>Jupyter</a:t>
            </a:r>
            <a:r>
              <a:rPr lang="en-IN" dirty="0" smtClean="0"/>
              <a:t> Notebook</a:t>
            </a:r>
          </a:p>
          <a:p>
            <a:r>
              <a:rPr lang="en-IN" dirty="0" smtClean="0"/>
              <a:t>• Git &amp; GitHub</a:t>
            </a:r>
            <a:endParaRPr lang="en-IN" dirty="0"/>
          </a:p>
        </p:txBody>
      </p:sp>
    </p:spTree>
    <p:extLst>
      <p:ext uri="{BB962C8B-B14F-4D97-AF65-F5344CB8AC3E}">
        <p14:creationId xmlns:p14="http://schemas.microsoft.com/office/powerpoint/2010/main" val="12392753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791" y="198783"/>
            <a:ext cx="11102009" cy="715617"/>
          </a:xfrm>
        </p:spPr>
        <p:txBody>
          <a:bodyPr/>
          <a:lstStyle/>
          <a:p>
            <a:r>
              <a:rPr lang="en-IN" dirty="0" smtClean="0"/>
              <a:t>ETL Pipeline</a:t>
            </a:r>
            <a:endParaRPr lang="en-IN" dirty="0"/>
          </a:p>
        </p:txBody>
      </p:sp>
      <p:sp>
        <p:nvSpPr>
          <p:cNvPr id="3" name="Content Placeholder 2"/>
          <p:cNvSpPr>
            <a:spLocks noGrp="1"/>
          </p:cNvSpPr>
          <p:nvPr>
            <p:ph idx="1"/>
          </p:nvPr>
        </p:nvSpPr>
        <p:spPr>
          <a:xfrm>
            <a:off x="424070" y="914400"/>
            <a:ext cx="10929730" cy="5943600"/>
          </a:xfrm>
        </p:spPr>
        <p:txBody>
          <a:bodyPr>
            <a:normAutofit fontScale="85000" lnSpcReduction="20000"/>
          </a:bodyPr>
          <a:lstStyle/>
          <a:p>
            <a:r>
              <a:rPr lang="en-IN" dirty="0" smtClean="0"/>
              <a:t>The ETL pipeline automates the complete data processing workflow.</a:t>
            </a:r>
          </a:p>
          <a:p>
            <a:endParaRPr lang="en-IN" dirty="0" smtClean="0"/>
          </a:p>
          <a:p>
            <a:r>
              <a:rPr lang="en-IN" dirty="0" smtClean="0"/>
              <a:t>Extract</a:t>
            </a:r>
          </a:p>
          <a:p>
            <a:r>
              <a:rPr lang="en-IN" dirty="0" smtClean="0"/>
              <a:t>• Read multiple mutual fund datasets.</a:t>
            </a:r>
          </a:p>
          <a:p>
            <a:endParaRPr lang="en-IN" dirty="0" smtClean="0"/>
          </a:p>
          <a:p>
            <a:r>
              <a:rPr lang="en-IN" dirty="0" smtClean="0"/>
              <a:t>Transform</a:t>
            </a:r>
          </a:p>
          <a:p>
            <a:r>
              <a:rPr lang="en-IN" dirty="0" smtClean="0"/>
              <a:t>• Remove duplicate records.</a:t>
            </a:r>
          </a:p>
          <a:p>
            <a:r>
              <a:rPr lang="en-IN" dirty="0" smtClean="0"/>
              <a:t>• Handle missing values.</a:t>
            </a:r>
          </a:p>
          <a:p>
            <a:r>
              <a:rPr lang="en-IN" dirty="0" smtClean="0"/>
              <a:t>• Standardize column names.</a:t>
            </a:r>
          </a:p>
          <a:p>
            <a:r>
              <a:rPr lang="en-IN" dirty="0" smtClean="0"/>
              <a:t>• Convert date formats.</a:t>
            </a:r>
          </a:p>
          <a:p>
            <a:r>
              <a:rPr lang="en-IN" dirty="0" smtClean="0"/>
              <a:t>• Clean inconsistent data.</a:t>
            </a:r>
          </a:p>
          <a:p>
            <a:endParaRPr lang="en-IN" dirty="0" smtClean="0"/>
          </a:p>
          <a:p>
            <a:r>
              <a:rPr lang="en-IN" dirty="0" smtClean="0"/>
              <a:t>Load</a:t>
            </a:r>
          </a:p>
          <a:p>
            <a:r>
              <a:rPr lang="en-IN" dirty="0" smtClean="0"/>
              <a:t>• Store processed datasets into SQLite.</a:t>
            </a:r>
          </a:p>
          <a:p>
            <a:r>
              <a:rPr lang="en-IN" dirty="0" smtClean="0"/>
              <a:t>• Export cleaned CSV files for analysis.</a:t>
            </a: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60884" y="2339527"/>
            <a:ext cx="2298872" cy="3478178"/>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24800" y="1311965"/>
            <a:ext cx="3998844" cy="4776857"/>
          </a:xfrm>
          <a:prstGeom prst="rect">
            <a:avLst/>
          </a:prstGeom>
        </p:spPr>
      </p:pic>
    </p:spTree>
    <p:extLst>
      <p:ext uri="{BB962C8B-B14F-4D97-AF65-F5344CB8AC3E}">
        <p14:creationId xmlns:p14="http://schemas.microsoft.com/office/powerpoint/2010/main" val="12197505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7565" y="993914"/>
            <a:ext cx="11489635" cy="5685182"/>
          </a:xfrm>
        </p:spPr>
        <p:txBody>
          <a:bodyPr>
            <a:normAutofit fontScale="85000" lnSpcReduction="20000"/>
          </a:bodyPr>
          <a:lstStyle/>
          <a:p>
            <a:r>
              <a:rPr lang="en-US" b="1" dirty="0"/>
              <a:t>Content</a:t>
            </a:r>
          </a:p>
          <a:p>
            <a:r>
              <a:rPr lang="en-US" dirty="0"/>
              <a:t>The Mutual Fund Analytics project uses 14 cleaned datasets containing information about mutual fund schemes, NAV history, fund performance, investor transactions, SIP trends, AUM, benchmark indices, and risk metrics. The data was transformed through an ETL pipeline to ensure consistency, accuracy, and reliability before analysis.</a:t>
            </a:r>
          </a:p>
          <a:p>
            <a:r>
              <a:rPr lang="en-US" b="1" dirty="0"/>
              <a:t>Key Datasets</a:t>
            </a:r>
            <a:endParaRPr lang="en-US" dirty="0"/>
          </a:p>
          <a:p>
            <a:r>
              <a:rPr lang="en-US" dirty="0"/>
              <a:t>Fund Master </a:t>
            </a:r>
          </a:p>
          <a:p>
            <a:r>
              <a:rPr lang="en-US" dirty="0"/>
              <a:t>NAV History </a:t>
            </a:r>
          </a:p>
          <a:p>
            <a:r>
              <a:rPr lang="en-US" dirty="0"/>
              <a:t>Scheme Performance </a:t>
            </a:r>
          </a:p>
          <a:p>
            <a:r>
              <a:rPr lang="en-US" dirty="0"/>
              <a:t>Investor Transactions </a:t>
            </a:r>
          </a:p>
          <a:p>
            <a:r>
              <a:rPr lang="en-US" dirty="0"/>
              <a:t>Fund Scorecard </a:t>
            </a:r>
          </a:p>
          <a:p>
            <a:r>
              <a:rPr lang="en-US" dirty="0"/>
              <a:t>Benchmark Indices </a:t>
            </a:r>
          </a:p>
          <a:p>
            <a:r>
              <a:rPr lang="en-US" dirty="0"/>
              <a:t>SIP Monthly Data </a:t>
            </a:r>
          </a:p>
          <a:p>
            <a:r>
              <a:rPr lang="en-US" dirty="0"/>
              <a:t>AUM by Fund House </a:t>
            </a:r>
          </a:p>
          <a:p>
            <a:r>
              <a:rPr lang="en-US" b="1" dirty="0"/>
              <a:t>Footer</a:t>
            </a:r>
            <a:r>
              <a:rPr lang="en-US" dirty="0"/>
              <a:t/>
            </a:r>
            <a:br>
              <a:rPr lang="en-US" dirty="0"/>
            </a:br>
            <a:r>
              <a:rPr lang="en-US" b="1" dirty="0"/>
              <a:t>Clean and structured data provides the foundation for accurate analytics and reporting.</a:t>
            </a:r>
            <a:endParaRPr lang="en-US" dirty="0"/>
          </a:p>
        </p:txBody>
      </p:sp>
      <p:sp>
        <p:nvSpPr>
          <p:cNvPr id="5"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rgbClr val="FFFFFF"/>
                </a:solidFill>
                <a:effectLst/>
                <a:latin typeface="Outfit"/>
              </a:rPr>
              <a:t>├── reports/ │ ├── Final_Report.pdf │ └── Presentation.pptx</a:t>
            </a:r>
            <a:r>
              <a:rPr kumimoji="0" lang="en-US" altLang="en-US" sz="1100" b="0" i="0" u="none" strike="noStrike" cap="none" normalizeH="0" baseline="0" smtClean="0">
                <a:ln>
                  <a:noFill/>
                </a:ln>
                <a:solidFill>
                  <a:schemeClr val="tx1"/>
                </a:solidFill>
                <a:effectLst/>
              </a:rPr>
              <a:t> </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8" name="Title 7"/>
          <p:cNvSpPr>
            <a:spLocks noGrp="1"/>
          </p:cNvSpPr>
          <p:nvPr>
            <p:ph type="title"/>
          </p:nvPr>
        </p:nvSpPr>
        <p:spPr>
          <a:xfrm>
            <a:off x="225288" y="145775"/>
            <a:ext cx="6520070" cy="702364"/>
          </a:xfrm>
        </p:spPr>
        <p:txBody>
          <a:bodyPr/>
          <a:lstStyle/>
          <a:p>
            <a:r>
              <a:rPr lang="en-US" dirty="0" smtClean="0"/>
              <a:t>Dataset Overview</a:t>
            </a:r>
            <a:endParaRPr lang="en-IN" dirty="0"/>
          </a:p>
        </p:txBody>
      </p:sp>
    </p:spTree>
    <p:extLst>
      <p:ext uri="{BB962C8B-B14F-4D97-AF65-F5344CB8AC3E}">
        <p14:creationId xmlns:p14="http://schemas.microsoft.com/office/powerpoint/2010/main" val="31034238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4556" y="278295"/>
            <a:ext cx="11009243" cy="463827"/>
          </a:xfrm>
        </p:spPr>
        <p:txBody>
          <a:bodyPr>
            <a:normAutofit fontScale="90000"/>
          </a:bodyPr>
          <a:lstStyle/>
          <a:p>
            <a:r>
              <a:rPr lang="en-IN" dirty="0"/>
              <a:t>Data Cleaning &amp; Feature Engineering</a:t>
            </a:r>
          </a:p>
        </p:txBody>
      </p:sp>
      <p:sp>
        <p:nvSpPr>
          <p:cNvPr id="3" name="Content Placeholder 2"/>
          <p:cNvSpPr>
            <a:spLocks noGrp="1"/>
          </p:cNvSpPr>
          <p:nvPr>
            <p:ph idx="1"/>
          </p:nvPr>
        </p:nvSpPr>
        <p:spPr>
          <a:xfrm>
            <a:off x="728870" y="874644"/>
            <a:ext cx="10624930" cy="5698434"/>
          </a:xfrm>
        </p:spPr>
        <p:txBody>
          <a:bodyPr>
            <a:normAutofit fontScale="55000" lnSpcReduction="20000"/>
          </a:bodyPr>
          <a:lstStyle/>
          <a:p>
            <a:r>
              <a:rPr lang="en-IN" b="1" dirty="0"/>
              <a:t>Content</a:t>
            </a:r>
          </a:p>
          <a:p>
            <a:r>
              <a:rPr lang="en-IN" dirty="0"/>
              <a:t>The datasets were cleaned by removing duplicate records, handling missing values, correcting inconsistent formats, and standardizing column names. Feature engineering was performed to generate important financial performance metrics that improve investment analysis and decision-making.</a:t>
            </a:r>
          </a:p>
          <a:p>
            <a:r>
              <a:rPr lang="en-IN" b="1" dirty="0"/>
              <a:t>Data Cleaning</a:t>
            </a:r>
            <a:endParaRPr lang="en-IN" dirty="0"/>
          </a:p>
          <a:p>
            <a:r>
              <a:rPr lang="en-IN" dirty="0"/>
              <a:t>Removed duplicate records </a:t>
            </a:r>
          </a:p>
          <a:p>
            <a:r>
              <a:rPr lang="en-IN" dirty="0"/>
              <a:t>Handled missing values </a:t>
            </a:r>
          </a:p>
          <a:p>
            <a:r>
              <a:rPr lang="en-IN" dirty="0"/>
              <a:t>Standardized date formats </a:t>
            </a:r>
          </a:p>
          <a:p>
            <a:r>
              <a:rPr lang="en-IN" dirty="0"/>
              <a:t>Corrected inconsistent column names </a:t>
            </a:r>
          </a:p>
          <a:p>
            <a:r>
              <a:rPr lang="en-IN" dirty="0"/>
              <a:t>Removed invalid records </a:t>
            </a:r>
          </a:p>
          <a:p>
            <a:r>
              <a:rPr lang="en-IN" b="1" dirty="0"/>
              <a:t>Feature Engineering</a:t>
            </a:r>
            <a:endParaRPr lang="en-IN" dirty="0"/>
          </a:p>
          <a:p>
            <a:r>
              <a:rPr lang="en-IN" dirty="0"/>
              <a:t>CAGR </a:t>
            </a:r>
          </a:p>
          <a:p>
            <a:r>
              <a:rPr lang="en-IN" dirty="0"/>
              <a:t>Sharpe Ratio </a:t>
            </a:r>
          </a:p>
          <a:p>
            <a:r>
              <a:rPr lang="en-IN" dirty="0" err="1"/>
              <a:t>Sortino</a:t>
            </a:r>
            <a:r>
              <a:rPr lang="en-IN" dirty="0"/>
              <a:t> Ratio </a:t>
            </a:r>
          </a:p>
          <a:p>
            <a:r>
              <a:rPr lang="en-IN" dirty="0"/>
              <a:t>Alpha </a:t>
            </a:r>
          </a:p>
          <a:p>
            <a:r>
              <a:rPr lang="en-IN" dirty="0"/>
              <a:t>Beta </a:t>
            </a:r>
          </a:p>
          <a:p>
            <a:r>
              <a:rPr lang="en-IN" dirty="0"/>
              <a:t>Maximum Drawdown </a:t>
            </a:r>
          </a:p>
          <a:p>
            <a:r>
              <a:rPr lang="en-IN" dirty="0"/>
              <a:t>Tracking Error </a:t>
            </a:r>
          </a:p>
          <a:p>
            <a:r>
              <a:rPr lang="en-IN" b="1" dirty="0"/>
              <a:t>Footer</a:t>
            </a:r>
            <a:r>
              <a:rPr lang="en-IN" dirty="0"/>
              <a:t/>
            </a:r>
            <a:br>
              <a:rPr lang="en-IN" dirty="0"/>
            </a:br>
            <a:r>
              <a:rPr lang="en-IN" b="1" dirty="0"/>
              <a:t>Feature engineering enhances analytical insights and investment performance evaluation</a:t>
            </a:r>
            <a:endParaRPr lang="en-IN" dirty="0"/>
          </a:p>
          <a:p>
            <a:endParaRPr lang="en-IN" dirty="0"/>
          </a:p>
        </p:txBody>
      </p:sp>
    </p:spTree>
    <p:extLst>
      <p:ext uri="{BB962C8B-B14F-4D97-AF65-F5344CB8AC3E}">
        <p14:creationId xmlns:p14="http://schemas.microsoft.com/office/powerpoint/2010/main" val="40305095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297" y="132523"/>
            <a:ext cx="11075504" cy="516834"/>
          </a:xfrm>
        </p:spPr>
        <p:txBody>
          <a:bodyPr>
            <a:normAutofit fontScale="90000"/>
          </a:bodyPr>
          <a:lstStyle/>
          <a:p>
            <a:r>
              <a:rPr lang="en-US" dirty="0"/>
              <a:t>SQL Analysis &amp; Key Performance Indicators</a:t>
            </a:r>
            <a:endParaRPr lang="en-IN" dirty="0"/>
          </a:p>
        </p:txBody>
      </p:sp>
      <p:sp>
        <p:nvSpPr>
          <p:cNvPr id="3" name="Content Placeholder 2"/>
          <p:cNvSpPr>
            <a:spLocks noGrp="1"/>
          </p:cNvSpPr>
          <p:nvPr>
            <p:ph idx="1"/>
          </p:nvPr>
        </p:nvSpPr>
        <p:spPr>
          <a:xfrm>
            <a:off x="742122" y="834887"/>
            <a:ext cx="10611677" cy="5764696"/>
          </a:xfrm>
        </p:spPr>
        <p:txBody>
          <a:bodyPr>
            <a:normAutofit fontScale="62500" lnSpcReduction="20000"/>
          </a:bodyPr>
          <a:lstStyle/>
          <a:p>
            <a:r>
              <a:rPr lang="en-US" b="1" dirty="0"/>
              <a:t>Content</a:t>
            </a:r>
          </a:p>
          <a:p>
            <a:r>
              <a:rPr lang="en-US" dirty="0"/>
              <a:t>SQL queries were used to analyze the cleaned datasets and calculate key business metrics. These analyses provided insights into mutual fund performance, fund house distribution, investor activity, and overall market trends.</a:t>
            </a:r>
          </a:p>
          <a:p>
            <a:r>
              <a:rPr lang="en-US" b="1" dirty="0"/>
              <a:t>SQL Analysis</a:t>
            </a:r>
            <a:endParaRPr lang="en-US" dirty="0"/>
          </a:p>
          <a:p>
            <a:r>
              <a:rPr lang="en-US" dirty="0"/>
              <a:t>Total Mutual Fund Schemes </a:t>
            </a:r>
          </a:p>
          <a:p>
            <a:r>
              <a:rPr lang="en-US" dirty="0"/>
              <a:t>Fund House Analysis </a:t>
            </a:r>
          </a:p>
          <a:p>
            <a:r>
              <a:rPr lang="en-US" dirty="0"/>
              <a:t>Category-wise Performance </a:t>
            </a:r>
          </a:p>
          <a:p>
            <a:r>
              <a:rPr lang="en-US" dirty="0"/>
              <a:t>Monthly SIP Trends </a:t>
            </a:r>
          </a:p>
          <a:p>
            <a:r>
              <a:rPr lang="en-US" dirty="0"/>
              <a:t>Investor Transaction Summary </a:t>
            </a:r>
          </a:p>
          <a:p>
            <a:r>
              <a:rPr lang="en-US" dirty="0"/>
              <a:t>Assets Under Management (AUM) </a:t>
            </a:r>
          </a:p>
          <a:p>
            <a:r>
              <a:rPr lang="en-US" b="1" dirty="0"/>
              <a:t>Key Performance Indicators</a:t>
            </a:r>
            <a:endParaRPr lang="en-US" dirty="0"/>
          </a:p>
          <a:p>
            <a:r>
              <a:rPr lang="en-US" dirty="0"/>
              <a:t>Total Schemes </a:t>
            </a:r>
          </a:p>
          <a:p>
            <a:r>
              <a:rPr lang="en-US" dirty="0"/>
              <a:t>Total Fund Houses </a:t>
            </a:r>
          </a:p>
          <a:p>
            <a:r>
              <a:rPr lang="en-US" dirty="0"/>
              <a:t>Average CAGR </a:t>
            </a:r>
          </a:p>
          <a:p>
            <a:r>
              <a:rPr lang="en-US" dirty="0"/>
              <a:t>Average Sharpe Ratio </a:t>
            </a:r>
          </a:p>
          <a:p>
            <a:r>
              <a:rPr lang="en-US" dirty="0"/>
              <a:t>Total AUM </a:t>
            </a:r>
          </a:p>
          <a:p>
            <a:r>
              <a:rPr lang="en-US" b="1" dirty="0"/>
              <a:t>Footer</a:t>
            </a:r>
            <a:r>
              <a:rPr lang="en-US" dirty="0"/>
              <a:t/>
            </a:r>
            <a:br>
              <a:rPr lang="en-US" dirty="0"/>
            </a:br>
            <a:r>
              <a:rPr lang="en-US" b="1" dirty="0"/>
              <a:t>SQL-based analysis transforms raw data into meaningful business insights.</a:t>
            </a:r>
            <a:endParaRPr lang="en-US" dirty="0"/>
          </a:p>
          <a:p>
            <a:endParaRPr lang="en-IN" dirty="0"/>
          </a:p>
        </p:txBody>
      </p:sp>
    </p:spTree>
    <p:extLst>
      <p:ext uri="{BB962C8B-B14F-4D97-AF65-F5344CB8AC3E}">
        <p14:creationId xmlns:p14="http://schemas.microsoft.com/office/powerpoint/2010/main" val="2957910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808" y="159027"/>
            <a:ext cx="10995991" cy="702364"/>
          </a:xfrm>
        </p:spPr>
        <p:txBody>
          <a:bodyPr/>
          <a:lstStyle/>
          <a:p>
            <a:r>
              <a:rPr lang="en-IN" dirty="0"/>
              <a:t>Power BI Dashboard</a:t>
            </a:r>
          </a:p>
        </p:txBody>
      </p:sp>
      <p:sp>
        <p:nvSpPr>
          <p:cNvPr id="3" name="Content Placeholder 2"/>
          <p:cNvSpPr>
            <a:spLocks noGrp="1"/>
          </p:cNvSpPr>
          <p:nvPr>
            <p:ph idx="1"/>
          </p:nvPr>
        </p:nvSpPr>
        <p:spPr>
          <a:xfrm>
            <a:off x="887896" y="861391"/>
            <a:ext cx="10465904" cy="5738191"/>
          </a:xfrm>
        </p:spPr>
        <p:txBody>
          <a:bodyPr>
            <a:normAutofit fontScale="85000" lnSpcReduction="20000"/>
          </a:bodyPr>
          <a:lstStyle/>
          <a:p>
            <a:r>
              <a:rPr lang="en-US" b="1" dirty="0"/>
              <a:t>Content</a:t>
            </a:r>
          </a:p>
          <a:p>
            <a:r>
              <a:rPr lang="en-US" dirty="0"/>
              <a:t>Interactive dashboards were developed in Power BI to visualize mutual fund performance and provide meaningful insights through dynamic charts, KPI cards, filters, and drill-through functionality.</a:t>
            </a:r>
          </a:p>
          <a:p>
            <a:r>
              <a:rPr lang="en-US" b="1" dirty="0"/>
              <a:t>Dashboard Features</a:t>
            </a:r>
            <a:endParaRPr lang="en-US" dirty="0"/>
          </a:p>
          <a:p>
            <a:r>
              <a:rPr lang="en-US" dirty="0"/>
              <a:t>Executive Summary </a:t>
            </a:r>
          </a:p>
          <a:p>
            <a:r>
              <a:rPr lang="en-US" dirty="0"/>
              <a:t>Scheme Performance Analysis </a:t>
            </a:r>
          </a:p>
          <a:p>
            <a:r>
              <a:rPr lang="en-US" dirty="0"/>
              <a:t>Risk &amp; Return Analysis </a:t>
            </a:r>
          </a:p>
          <a:p>
            <a:r>
              <a:rPr lang="en-US" dirty="0"/>
              <a:t>Assets Under Management (AUM) </a:t>
            </a:r>
          </a:p>
          <a:p>
            <a:r>
              <a:rPr lang="en-US" dirty="0"/>
              <a:t>SIP Trend Analysis </a:t>
            </a:r>
          </a:p>
          <a:p>
            <a:r>
              <a:rPr lang="en-US" dirty="0"/>
              <a:t>Benchmark Comparison </a:t>
            </a:r>
          </a:p>
          <a:p>
            <a:r>
              <a:rPr lang="en-US" dirty="0"/>
              <a:t>Interactive Filters </a:t>
            </a:r>
          </a:p>
          <a:p>
            <a:r>
              <a:rPr lang="en-US" dirty="0"/>
              <a:t>Drill-through Navigation </a:t>
            </a:r>
          </a:p>
          <a:p>
            <a:r>
              <a:rPr lang="en-US" b="1" dirty="0"/>
              <a:t>Footer</a:t>
            </a:r>
            <a:r>
              <a:rPr lang="en-US" dirty="0"/>
              <a:t/>
            </a:r>
            <a:br>
              <a:rPr lang="en-US" dirty="0"/>
            </a:br>
            <a:r>
              <a:rPr lang="en-US" b="1" dirty="0"/>
              <a:t>Power BI dashboards enable interactive, data-driven investment analysis and </a:t>
            </a:r>
            <a:r>
              <a:rPr lang="en-US" b="1" dirty="0" smtClean="0"/>
              <a:t>reporting.</a:t>
            </a:r>
            <a:endParaRPr lang="en-US" dirty="0"/>
          </a:p>
          <a:p>
            <a:pPr marL="0" indent="0">
              <a:buNone/>
            </a:pPr>
            <a:endParaRPr lang="en-IN" dirty="0"/>
          </a:p>
        </p:txBody>
      </p:sp>
    </p:spTree>
    <p:extLst>
      <p:ext uri="{BB962C8B-B14F-4D97-AF65-F5344CB8AC3E}">
        <p14:creationId xmlns:p14="http://schemas.microsoft.com/office/powerpoint/2010/main" val="9528942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1549" y="92766"/>
            <a:ext cx="11062252" cy="781878"/>
          </a:xfrm>
        </p:spPr>
        <p:txBody>
          <a:bodyPr/>
          <a:lstStyle/>
          <a:p>
            <a:r>
              <a:rPr lang="en-IN" dirty="0"/>
              <a:t>Key Insights</a:t>
            </a:r>
          </a:p>
        </p:txBody>
      </p:sp>
      <p:sp>
        <p:nvSpPr>
          <p:cNvPr id="3" name="Content Placeholder 2"/>
          <p:cNvSpPr>
            <a:spLocks noGrp="1"/>
          </p:cNvSpPr>
          <p:nvPr>
            <p:ph idx="1"/>
          </p:nvPr>
        </p:nvSpPr>
        <p:spPr>
          <a:xfrm>
            <a:off x="702365" y="967409"/>
            <a:ext cx="10651435" cy="5539408"/>
          </a:xfrm>
        </p:spPr>
        <p:txBody>
          <a:bodyPr>
            <a:normAutofit fontScale="92500" lnSpcReduction="20000"/>
          </a:bodyPr>
          <a:lstStyle/>
          <a:p>
            <a:r>
              <a:rPr lang="en-US" b="1" dirty="0"/>
              <a:t>Content</a:t>
            </a:r>
          </a:p>
          <a:p>
            <a:r>
              <a:rPr lang="en-US" dirty="0"/>
              <a:t>The analysis revealed valuable insights into mutual fund performance and investment trends. Risk-adjusted metrics such as the Sharpe Ratio, </a:t>
            </a:r>
            <a:r>
              <a:rPr lang="en-US" dirty="0" err="1"/>
              <a:t>Sortino</a:t>
            </a:r>
            <a:r>
              <a:rPr lang="en-US" dirty="0"/>
              <a:t> Ratio, Alpha, and Beta helped identify well-performing schemes. Interactive dashboards enabled users to compare fund performance, analyze Assets Under Management (AUM), monitor SIP trends, and evaluate benchmark performance for informed investment decisions.</a:t>
            </a:r>
          </a:p>
          <a:p>
            <a:r>
              <a:rPr lang="en-US" b="1" dirty="0"/>
              <a:t>Key Highlights</a:t>
            </a:r>
            <a:endParaRPr lang="en-US" dirty="0"/>
          </a:p>
          <a:p>
            <a:r>
              <a:rPr lang="en-US" dirty="0"/>
              <a:t>Identified top-performing mutual fund schemes </a:t>
            </a:r>
          </a:p>
          <a:p>
            <a:r>
              <a:rPr lang="en-US" dirty="0"/>
              <a:t>Compared risk and return across categories </a:t>
            </a:r>
          </a:p>
          <a:p>
            <a:r>
              <a:rPr lang="en-US" dirty="0"/>
              <a:t>Analyzed AUM and SIP growth trends </a:t>
            </a:r>
          </a:p>
          <a:p>
            <a:r>
              <a:rPr lang="en-US" dirty="0"/>
              <a:t>Evaluated benchmark performance </a:t>
            </a:r>
          </a:p>
          <a:p>
            <a:r>
              <a:rPr lang="en-US" dirty="0"/>
              <a:t>Enabled interactive filtering and drill-through analysis </a:t>
            </a:r>
          </a:p>
          <a:p>
            <a:r>
              <a:rPr lang="en-US" b="1" dirty="0"/>
              <a:t>Footer</a:t>
            </a:r>
            <a:r>
              <a:rPr lang="en-US" dirty="0"/>
              <a:t/>
            </a:r>
            <a:br>
              <a:rPr lang="en-US" dirty="0"/>
            </a:br>
            <a:r>
              <a:rPr lang="en-US" b="1" dirty="0"/>
              <a:t>Data-driven insights support smarter investment decisions.</a:t>
            </a:r>
            <a:endParaRPr lang="en-US" dirty="0"/>
          </a:p>
          <a:p>
            <a:pPr marL="0" indent="0">
              <a:buNone/>
            </a:pPr>
            <a:endParaRPr lang="en-IN" dirty="0"/>
          </a:p>
        </p:txBody>
      </p:sp>
    </p:spTree>
    <p:extLst>
      <p:ext uri="{BB962C8B-B14F-4D97-AF65-F5344CB8AC3E}">
        <p14:creationId xmlns:p14="http://schemas.microsoft.com/office/powerpoint/2010/main" val="38587922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4313" y="92765"/>
            <a:ext cx="10969487" cy="742122"/>
          </a:xfrm>
        </p:spPr>
        <p:txBody>
          <a:bodyPr/>
          <a:lstStyle/>
          <a:p>
            <a:r>
              <a:rPr lang="en-IN" dirty="0"/>
              <a:t>Conclusion</a:t>
            </a:r>
          </a:p>
        </p:txBody>
      </p:sp>
      <p:sp>
        <p:nvSpPr>
          <p:cNvPr id="3" name="Content Placeholder 2"/>
          <p:cNvSpPr>
            <a:spLocks noGrp="1"/>
          </p:cNvSpPr>
          <p:nvPr>
            <p:ph idx="1"/>
          </p:nvPr>
        </p:nvSpPr>
        <p:spPr>
          <a:xfrm>
            <a:off x="887896" y="834887"/>
            <a:ext cx="10465903" cy="5830956"/>
          </a:xfrm>
        </p:spPr>
        <p:txBody>
          <a:bodyPr>
            <a:normAutofit fontScale="92500" lnSpcReduction="20000"/>
          </a:bodyPr>
          <a:lstStyle/>
          <a:p>
            <a:r>
              <a:rPr lang="en-IN" b="1" dirty="0"/>
              <a:t>Content</a:t>
            </a:r>
          </a:p>
          <a:p>
            <a:r>
              <a:rPr lang="en-IN" dirty="0"/>
              <a:t>The Mutual Fund Analytics project successfully demonstrates an end-to-end data analytics workflow using ETL, SQL, SQLite, Python, and Power BI. Cleaned and transformed datasets were </a:t>
            </a:r>
            <a:r>
              <a:rPr lang="en-IN" dirty="0" err="1"/>
              <a:t>analyzed</a:t>
            </a:r>
            <a:r>
              <a:rPr lang="en-IN" dirty="0"/>
              <a:t> to generate meaningful financial insights, while interactive dashboards made complex information easy to understand. This project showcases practical skills in data engineering, business intelligence, and data visualization.</a:t>
            </a:r>
          </a:p>
          <a:p>
            <a:r>
              <a:rPr lang="en-IN" b="1" dirty="0"/>
              <a:t>Project Outcomes</a:t>
            </a:r>
            <a:endParaRPr lang="en-IN" dirty="0"/>
          </a:p>
          <a:p>
            <a:r>
              <a:rPr lang="en-IN" dirty="0"/>
              <a:t>Automated ETL pipeline </a:t>
            </a:r>
          </a:p>
          <a:p>
            <a:r>
              <a:rPr lang="en-IN" dirty="0"/>
              <a:t>Structured SQLite database </a:t>
            </a:r>
          </a:p>
          <a:p>
            <a:r>
              <a:rPr lang="en-IN" dirty="0"/>
              <a:t>SQL-based analytical queries </a:t>
            </a:r>
          </a:p>
          <a:p>
            <a:r>
              <a:rPr lang="en-IN" dirty="0"/>
              <a:t>Interactive Power BI dashboards </a:t>
            </a:r>
          </a:p>
          <a:p>
            <a:r>
              <a:rPr lang="en-IN" dirty="0"/>
              <a:t>Actionable investment insights </a:t>
            </a:r>
          </a:p>
          <a:p>
            <a:r>
              <a:rPr lang="en-IN" b="1" dirty="0"/>
              <a:t>Footer</a:t>
            </a:r>
            <a:r>
              <a:rPr lang="en-IN" dirty="0"/>
              <a:t/>
            </a:r>
            <a:br>
              <a:rPr lang="en-IN" dirty="0"/>
            </a:br>
            <a:r>
              <a:rPr lang="en-IN" b="1" dirty="0"/>
              <a:t>Transforming financial data into actionable business intelligence.</a:t>
            </a:r>
            <a:endParaRPr lang="en-IN" dirty="0"/>
          </a:p>
          <a:p>
            <a:pPr marL="0" indent="0">
              <a:buNone/>
            </a:pPr>
            <a:endParaRPr lang="en-IN" dirty="0"/>
          </a:p>
        </p:txBody>
      </p:sp>
    </p:spTree>
    <p:extLst>
      <p:ext uri="{BB962C8B-B14F-4D97-AF65-F5344CB8AC3E}">
        <p14:creationId xmlns:p14="http://schemas.microsoft.com/office/powerpoint/2010/main" val="12194762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8052" y="119271"/>
            <a:ext cx="11035748" cy="808381"/>
          </a:xfrm>
        </p:spPr>
        <p:txBody>
          <a:bodyPr/>
          <a:lstStyle/>
          <a:p>
            <a:r>
              <a:rPr lang="en-US" dirty="0" smtClean="0"/>
              <a:t>Thank You</a:t>
            </a:r>
            <a:endParaRPr lang="en-IN" dirty="0"/>
          </a:p>
        </p:txBody>
      </p:sp>
      <p:sp>
        <p:nvSpPr>
          <p:cNvPr id="3" name="Content Placeholder 2"/>
          <p:cNvSpPr>
            <a:spLocks noGrp="1"/>
          </p:cNvSpPr>
          <p:nvPr>
            <p:ph idx="1"/>
          </p:nvPr>
        </p:nvSpPr>
        <p:spPr>
          <a:xfrm>
            <a:off x="768626" y="927652"/>
            <a:ext cx="10585174" cy="5249311"/>
          </a:xfrm>
        </p:spPr>
        <p:txBody>
          <a:bodyPr>
            <a:normAutofit fontScale="92500" lnSpcReduction="10000"/>
          </a:bodyPr>
          <a:lstStyle/>
          <a:p>
            <a:r>
              <a:rPr lang="en-US" b="1" dirty="0"/>
              <a:t>Content</a:t>
            </a:r>
          </a:p>
          <a:p>
            <a:r>
              <a:rPr lang="en-US" b="1" dirty="0"/>
              <a:t>Thank You!</a:t>
            </a:r>
            <a:endParaRPr lang="en-US" dirty="0"/>
          </a:p>
          <a:p>
            <a:r>
              <a:rPr lang="en-US" b="1" dirty="0"/>
              <a:t>Mutual Fund Analytics Project</a:t>
            </a:r>
            <a:endParaRPr lang="en-US" dirty="0"/>
          </a:p>
          <a:p>
            <a:r>
              <a:rPr lang="en-US" b="1" dirty="0"/>
              <a:t>Prepared by:</a:t>
            </a:r>
            <a:r>
              <a:rPr lang="en-US" dirty="0"/>
              <a:t/>
            </a:r>
            <a:br>
              <a:rPr lang="en-US" dirty="0"/>
            </a:br>
            <a:r>
              <a:rPr lang="en-US" b="1" dirty="0" err="1"/>
              <a:t>Arunmozhi</a:t>
            </a:r>
            <a:r>
              <a:rPr lang="en-US" b="1" dirty="0"/>
              <a:t> M</a:t>
            </a:r>
            <a:endParaRPr lang="en-US" dirty="0"/>
          </a:p>
          <a:p>
            <a:r>
              <a:rPr lang="en-US" b="1" dirty="0"/>
              <a:t>Technologies Used</a:t>
            </a:r>
            <a:endParaRPr lang="en-US" dirty="0"/>
          </a:p>
          <a:p>
            <a:r>
              <a:rPr lang="en-US" dirty="0"/>
              <a:t>Python </a:t>
            </a:r>
          </a:p>
          <a:p>
            <a:r>
              <a:rPr lang="en-US" dirty="0"/>
              <a:t>SQL </a:t>
            </a:r>
          </a:p>
          <a:p>
            <a:r>
              <a:rPr lang="en-US" dirty="0"/>
              <a:t>SQLite </a:t>
            </a:r>
          </a:p>
          <a:p>
            <a:r>
              <a:rPr lang="en-US" dirty="0"/>
              <a:t>Power BI </a:t>
            </a:r>
          </a:p>
          <a:p>
            <a:r>
              <a:rPr lang="en-US" dirty="0" err="1"/>
              <a:t>Git</a:t>
            </a:r>
            <a:r>
              <a:rPr lang="en-US" dirty="0"/>
              <a:t> &amp; GitHub </a:t>
            </a:r>
          </a:p>
          <a:p>
            <a:r>
              <a:rPr lang="en-US" b="1" dirty="0"/>
              <a:t>Thank You for Your Time and Attention</a:t>
            </a:r>
            <a:endParaRPr lang="en-US" dirty="0"/>
          </a:p>
        </p:txBody>
      </p:sp>
    </p:spTree>
    <p:extLst>
      <p:ext uri="{BB962C8B-B14F-4D97-AF65-F5344CB8AC3E}">
        <p14:creationId xmlns:p14="http://schemas.microsoft.com/office/powerpoint/2010/main" val="17333509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422</TotalTime>
  <Words>783</Words>
  <Application>Microsoft Office PowerPoint</Application>
  <PresentationFormat>Widescreen</PresentationFormat>
  <Paragraphs>161</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Outfit</vt:lpstr>
      <vt:lpstr>Office Theme</vt:lpstr>
      <vt:lpstr>Mutual Fund Analytics Platform</vt:lpstr>
      <vt:lpstr>Project Overview</vt:lpstr>
      <vt:lpstr>Project Objectives</vt:lpstr>
      <vt:lpstr>Technology Stack</vt:lpstr>
      <vt:lpstr>ETL Pipeline</vt:lpstr>
      <vt:lpstr>Dataset Overview</vt:lpstr>
      <vt:lpstr>Data Cleaning &amp; Feature Engineering</vt:lpstr>
      <vt:lpstr>SQL Analysis &amp; Key Performance Indicators</vt:lpstr>
      <vt:lpstr>Power BI Dashboard</vt:lpstr>
      <vt:lpstr>Key Insights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Mutual Fund Analytics Platform</dc:title>
  <dc:creator>HP</dc:creator>
  <cp:lastModifiedBy>HP</cp:lastModifiedBy>
  <cp:revision>6</cp:revision>
  <dcterms:created xsi:type="dcterms:W3CDTF">2026-07-07T12:51:41Z</dcterms:created>
  <dcterms:modified xsi:type="dcterms:W3CDTF">2026-07-08T04:23:01Z</dcterms:modified>
</cp:coreProperties>
</file>